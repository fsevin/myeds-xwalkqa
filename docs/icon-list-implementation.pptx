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ADOBE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2704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EBEBE"/>
                </a:solidFill>
                <a:latin typeface="Arial"/>
              </a:rPr>
              <a:t>Edge Delivery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658368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Icon List
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675887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CDCDC"/>
                </a:solidFill>
                <a:latin typeface="Arial"/>
              </a:rPr>
              <a:t>How authored rows become responsive, optimized list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28016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31313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157276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B100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155448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18288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9B9B9"/>
                </a:solidFill>
                <a:latin typeface="Arial"/>
              </a:rPr>
              <a:t>Icon, alt text, heading,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41401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B10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39572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Decorate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67004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9B9B9"/>
                </a:solidFill>
                <a:latin typeface="Arial"/>
              </a:rPr>
              <a:t>Rows become semantic &lt;li&gt; elements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25526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B100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236976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51129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9B9B9"/>
                </a:solidFill>
                <a:latin typeface="Arial"/>
              </a:rPr>
              <a:t>Images load through AEM transforms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09651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B1000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407822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35254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9B9B9"/>
                </a:solidFill>
                <a:latin typeface="Arial"/>
              </a:rPr>
              <a:t>Flex layout adapts across viewports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19963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69696"/>
                </a:solidFill>
                <a:latin typeface="Arial"/>
              </a:rPr>
              <a:t>myeds-xwalkqa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01  |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One block, four cooperating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6C6C"/>
                </a:solidFill>
                <a:latin typeface="Arial"/>
              </a:rPr>
              <a:t>The icon-list implementation follows the standard EDS convention: authored data, block decoration, shared utilities, and CSS.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331720" cy="205740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4505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Authoring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021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0F0F0"/>
                </a:solidFill>
                <a:latin typeface="Courier New"/>
              </a:rPr>
              <a:t>_icon-list.json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8221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F0F0"/>
                </a:solidFill>
                <a:latin typeface="Arial"/>
              </a:rPr>
              <a:t>Defines the item fields and authoring filter.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3063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B1000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240280"/>
            <a:ext cx="2331720" cy="2057400"/>
          </a:xfrm>
          <a:prstGeom prst="roundRect">
            <a:avLst>
              <a:gd name="adj" fmla="val 8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4505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Block decorator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35021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0F0F0"/>
                </a:solidFill>
                <a:latin typeface="Courier New"/>
              </a:rPr>
              <a:t>icon-list.js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38221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F0F0"/>
                </a:solidFill>
                <a:latin typeface="Arial"/>
              </a:rPr>
              <a:t>Transforms authored DOM into semantic list markup.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3063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B100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240280"/>
            <a:ext cx="2331720" cy="2057400"/>
          </a:xfrm>
          <a:prstGeom prst="roundRect">
            <a:avLst>
              <a:gd name="adj" fmla="val 8000"/>
            </a:avLst>
          </a:prstGeom>
          <a:solidFill>
            <a:srgbClr val="4C4C4C"/>
          </a:solidFill>
          <a:ln>
            <a:solidFill>
              <a:srgbClr val="4C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7" y="24505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Shared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5021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0F0F0"/>
                </a:solidFill>
                <a:latin typeface="Courier New"/>
              </a:rPr>
              <a:t>scripts/aem.js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8221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F0F0"/>
                </a:solidFill>
                <a:latin typeface="Arial"/>
              </a:rPr>
              <a:t>Provides image optimization and dynamic loading.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3063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B1000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240280"/>
            <a:ext cx="2331720" cy="2057400"/>
          </a:xfrm>
          <a:prstGeom prst="roundRect">
            <a:avLst>
              <a:gd name="adj" fmla="val 8000"/>
            </a:avLst>
          </a:prstGeom>
          <a:solidFill>
            <a:srgbClr val="878787"/>
          </a:solidFill>
          <a:ln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24505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35021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0F0F0"/>
                </a:solidFill>
                <a:latin typeface="Courier New"/>
              </a:rPr>
              <a:t>icon-list.css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822191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F0F0"/>
                </a:solidFill>
                <a:latin typeface="Arial"/>
              </a:rPr>
              <a:t>Controls responsive layout, type, and spacing.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07492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91919"/>
                </a:solidFill>
                <a:latin typeface="Arial"/>
              </a:rPr>
              <a:t>The contract is intentionally small: the runtime discovers the block from its class name and imports matching JS/CSS files.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73952"/>
            <a:ext cx="11064240" cy="254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Arial"/>
              </a:rPr>
              <a:t>ADOBE  |  EDGE DELIVERY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565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C6C6C"/>
                </a:solidFill>
                <a:latin typeface="Arial"/>
              </a:rPr>
              <a:t>ICON-LIST IMPLEMENTATION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02  |  AUTHORING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The model defines one repeatable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6C6C"/>
                </a:solidFill>
                <a:latin typeface="Arial"/>
              </a:rPr>
              <a:t>The block exposes only the fields an author needs, while the filter prevents unrelated components from being inserted into the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49424"/>
            <a:ext cx="46725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4B4B4"/>
                </a:solidFill>
                <a:latin typeface="Arial"/>
              </a:rPr>
              <a:t>BLOCKS/ICON-LIST/_ICON-LIST.JSON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23744"/>
            <a:ext cx="4672583" cy="284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{
  "id": "icon-list-item",
  "fields": [
    { "name": "image", "component": "reference" },
    { "name": "imageAlt", "component": "text" },
    { "name": "heading", "required": true },
    { "name": "text", "component": "richtext" }
  ]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7627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91919"/>
                </a:solidFill>
                <a:latin typeface="Arial"/>
              </a:rPr>
              <a:t>Authoring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76148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7" y="276148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Icon is a single referenced image.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25526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7" y="325526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Alt text is modeled separately for accessibility.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749039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374903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Heading is required and becomes the item title.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24281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424281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Description supports rich text content.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73659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473659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The icon-list filter allows only icon-list-item entries.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5358384"/>
            <a:ext cx="4526280" cy="438912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5495544"/>
            <a:ext cx="3977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6C6C"/>
                </a:solidFill>
                <a:latin typeface="Courier New"/>
              </a:rPr>
              <a:t>Source of truth: blocks/icon-list/_icon-list.json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73952"/>
            <a:ext cx="11064240" cy="254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Arial"/>
              </a:rPr>
              <a:t>ADOBE  |  EDGE DELIVERY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6565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C6C6C"/>
                </a:solidFill>
                <a:latin typeface="Arial"/>
              </a:rPr>
              <a:t>ICON-LIST IMPLEMENTATION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03  | 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Decoration converts rows into semantic markup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6C6C"/>
                </a:solidFill>
                <a:latin typeface="Arial"/>
              </a:rPr>
              <a:t>The default decorator keeps the authored content, adds semantic structure, and preserves Universal Editor instrumentation.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57984"/>
            <a:ext cx="51755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4B4B4"/>
                </a:solidFill>
                <a:latin typeface="Arial"/>
              </a:rPr>
              <a:t>ICON-LIST.JS  •  CORE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32304"/>
            <a:ext cx="5175503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const ul = document.createElement('ul');
[...block.children].forEach((row) =&gt; {
  const li = document.createElement('li');
  moveInstrumentation(row, li);
  while (row.firstElementChild) li.append(row.firstElementChild);
  ul.append(li);
});
block.replaceChildren(ul);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C6C6C"/>
                </a:solidFill>
                <a:latin typeface="Arial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514600"/>
            <a:ext cx="4343400" cy="82296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278892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2E2E"/>
                </a:solidFill>
                <a:latin typeface="Courier New"/>
              </a:rPr>
              <a:t>div.icon-list  ›  div row  ›  div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35021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EB1000"/>
                </a:solidFill>
                <a:latin typeface="Arial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9684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C6C6C"/>
                </a:solidFill>
                <a:latin typeface="Arial"/>
              </a:rPr>
              <a:t>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334256"/>
            <a:ext cx="4343400" cy="1143000"/>
          </a:xfrm>
          <a:prstGeom prst="roundRect">
            <a:avLst>
              <a:gd name="adj" fmla="val 8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4498848"/>
            <a:ext cx="374903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ul
  └─ li
      ├─ icon
      ├─ heading
      └─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73952"/>
            <a:ext cx="11064240" cy="254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Arial"/>
              </a:rPr>
              <a:t>ADOBE  |  EDGE DELIVERY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565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C6C6C"/>
                </a:solidFill>
                <a:latin typeface="Arial"/>
              </a:rPr>
              <a:t>ICON-LIST IMPLEMENTATION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04  | 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Images use the shared optimization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6C6C"/>
                </a:solidFill>
                <a:latin typeface="Arial"/>
              </a:rPr>
              <a:t>The block delegates image URL construction to createOptimizedPicture, keeping media behavior consistent across the 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897880" cy="315468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57984"/>
            <a:ext cx="54955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4B4B4"/>
                </a:solidFill>
                <a:latin typeface="Arial"/>
              </a:rPr>
              <a:t>ICON-LIST.JS  •  IMAGE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32304"/>
            <a:ext cx="5495544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urier New"/>
              </a:rPr>
              <a:t>const optimizedPic = createOptimizedPicture(
  img.src,
  img.alt,
  false,
  [{ width: '100' }],
);
moveInstrumentation(img, optimizedPic.querySelector('img'));
img.closest('picture').replaceWith(optimizedPic);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157984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rial"/>
              </a:rPr>
              <a:t>What this gives the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276148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2" y="276148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WebP source with a browser-compatible fallback.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331012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3101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A compact 100px asset target for icon-sized media.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385876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385876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Alt text carried through to the optimized image.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440740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B1000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440740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E2E2E"/>
                </a:solidFill>
                <a:latin typeface="Arial"/>
              </a:rPr>
              <a:t>Editor instrumentation retained after replacement.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5212080"/>
            <a:ext cx="3977639" cy="50292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BCE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5376672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648"/>
                </a:solidFill>
                <a:latin typeface="Courier New"/>
              </a:rPr>
              <a:t>Shared utility  →  scripts/aem.js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64240" cy="254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Arial"/>
              </a:rPr>
              <a:t>ADOBE  |  EDGE DELIVERY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565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C6C6C"/>
                </a:solidFill>
                <a:latin typeface="Arial"/>
              </a:rPr>
              <a:t>ICON-LIST IMPLEMENTATION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05  | 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CSS creates a responsive icon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6C6C"/>
                </a:solidFill>
                <a:latin typeface="Arial"/>
              </a:rPr>
              <a:t>The block owns its layout. Global variables supply the site-wide type scale and colors.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4892040" cy="329184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12264"/>
            <a:ext cx="4489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4B4B4"/>
                </a:solidFill>
                <a:latin typeface="Arial"/>
              </a:rPr>
              <a:t>ICON-LIST.CSS  •  LAYOUT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86584"/>
            <a:ext cx="4489703" cy="2706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.icon-list ul {
  display: flex;
  flex-wrap: wrap;
  justify-content: center;
  gap: 40px 24px;
}
.icon-list li {
  flex: 1 1 240px;
  max-width: 360px;
  text-align: center;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7627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C6C6C"/>
                </a:solidFill>
                <a:latin typeface="Arial"/>
              </a:rPr>
              <a:t>Desktop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578608"/>
            <a:ext cx="1261872" cy="5486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03136" y="2651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96265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C6C6C"/>
                </a:solidFill>
                <a:latin typeface="Arial"/>
              </a:rPr>
              <a:t>heading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578608"/>
            <a:ext cx="1261872" cy="5486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03336" y="2651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96265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C6C6C"/>
                </a:solidFill>
                <a:latin typeface="Arial"/>
              </a:rPr>
              <a:t>heading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578608"/>
            <a:ext cx="1261872" cy="5486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03536" y="2651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96265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C6C6C"/>
                </a:solidFill>
                <a:latin typeface="Arial"/>
              </a:rPr>
              <a:t>heading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55848"/>
            <a:ext cx="1261872" cy="5486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03136" y="342900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3989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C6C6C"/>
                </a:solidFill>
                <a:latin typeface="Arial"/>
              </a:rPr>
              <a:t>heading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355848"/>
            <a:ext cx="1261872" cy="5486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03336" y="342900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73989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C6C6C"/>
                </a:solidFill>
                <a:latin typeface="Arial"/>
              </a:rPr>
              <a:t>heading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355848"/>
            <a:ext cx="1261872" cy="5486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03536" y="342900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3739896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C6C6C"/>
                </a:solidFill>
                <a:latin typeface="Arial"/>
              </a:rPr>
              <a:t>heading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519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rial"/>
              </a:rPr>
              <a:t>Fluid items wrap at 240px and cap at 360px.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773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C6C6C"/>
                </a:solidFill>
                <a:latin typeface="Arial"/>
              </a:rPr>
              <a:t>Mobile behavior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138928"/>
            <a:ext cx="4251960" cy="50292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5248656"/>
            <a:ext cx="3886200" cy="274320"/>
          </a:xfrm>
          <a:prstGeom prst="roundRect">
            <a:avLst>
              <a:gd name="adj" fmla="val 8000"/>
            </a:avLst>
          </a:prstGeom>
          <a:solidFill>
            <a:srgbClr val="EB1000"/>
          </a:solidFill>
          <a:ln>
            <a:solidFill>
              <a:srgbClr val="E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797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2E2E"/>
                </a:solidFill>
                <a:latin typeface="Arial"/>
              </a:rPr>
              <a:t>Items naturally collapse into a single readable column.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73952"/>
            <a:ext cx="11064240" cy="254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Arial"/>
              </a:rPr>
              <a:t>ADOBE  |  EDGE DELIVERY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565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C6C6C"/>
                </a:solidFill>
                <a:latin typeface="Arial"/>
              </a:rPr>
              <a:t>ICON-LIST IMPLEMENTATION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06  | 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When the page loads, the block follows the EDS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6C6C"/>
                </a:solidFill>
                <a:latin typeface="Arial"/>
              </a:rPr>
              <a:t>The page bootstrapper decorates first, then loads block assets on demand so initial rendering stays lightweight.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54203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rial"/>
              </a:rP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28416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AEM delivers authored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93192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Courier New"/>
              </a:rPr>
              <a:t>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3127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B1000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233172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54203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880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Decorate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328416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2D2D2"/>
                </a:solidFill>
                <a:latin typeface="Arial"/>
              </a:rPr>
              <a:t>aem.js adds .block and data-block-name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93192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AAAAA"/>
                </a:solidFill>
                <a:latin typeface="Courier New"/>
              </a:rP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127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B100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233172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254203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880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rial"/>
              </a:rPr>
              <a:t>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328416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Matching JS/CSS are loaded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393192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Courier New"/>
              </a:rPr>
              <a:t>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127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B1000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233172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54203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2880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6" y="3328416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2D2D2"/>
                </a:solidFill>
                <a:latin typeface="Arial"/>
              </a:rPr>
              <a:t>decorate(block) replaces rows with &lt;ul&gt;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393192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AAAAA"/>
                </a:solidFill>
                <a:latin typeface="Courier New"/>
              </a:rPr>
              <a:t>DOM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3127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B1000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65792" y="233172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254203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2880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rial"/>
              </a:rPr>
              <a:t>Loaded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3328416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data-block-status becomes loaded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0384" y="393192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Courier New"/>
              </a:rPr>
              <a:t>state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074920"/>
            <a:ext cx="10012680" cy="566928"/>
          </a:xfrm>
          <a:prstGeom prst="roundRect">
            <a:avLst>
              <a:gd name="adj" fmla="val 8000"/>
            </a:avLst>
          </a:prstGeom>
          <a:solidFill>
            <a:srgbClr val="FFF4F2"/>
          </a:solidFill>
          <a:ln>
            <a:solidFill>
              <a:srgbClr val="FF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276088"/>
            <a:ext cx="9464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B1000"/>
                </a:solidFill>
                <a:latin typeface="Arial"/>
              </a:rPr>
              <a:t>Key property: the block owns its behavior, while aem.js owns discovery and lifecycle orchestration.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73952"/>
            <a:ext cx="11064240" cy="254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Arial"/>
              </a:rPr>
              <a:t>ADOBE  |  EDGE DELIVERY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565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C6C6C"/>
                </a:solidFill>
                <a:latin typeface="Arial"/>
              </a:rPr>
              <a:t>ICON-LIST IMPLEMENTATION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B1000"/>
                </a:solidFill>
                <a:latin typeface="Arial"/>
              </a:rPr>
              <a:t>07  |  IMPLEMENTATION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Where to change the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C6C6C"/>
                </a:solidFill>
                <a:latin typeface="Arial"/>
              </a:rPr>
              <a:t>A practical guide for extending the block without breaking the EDS contract.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612648"/>
          </a:xfrm>
          <a:prstGeom prst="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1284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rial"/>
              </a:rPr>
              <a:t>Authoring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9232" y="22128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B1000"/>
                </a:solidFill>
                <a:latin typeface="Courier New"/>
              </a:rPr>
              <a:t>blocks/icon-list/_icon-list.json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12848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Add or revise model fields and item filters.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43200"/>
            <a:ext cx="108356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rial"/>
              </a:rPr>
              <a:t>DOM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8986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B1000"/>
                </a:solidFill>
                <a:latin typeface="Courier New"/>
              </a:rPr>
              <a:t>blocks/icon-list/icon-list.js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898648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Change markup, classification, or image handling.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10835640" cy="612648"/>
          </a:xfrm>
          <a:prstGeom prst="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58444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rial"/>
              </a:rPr>
              <a:t>Visual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5844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B1000"/>
                </a:solidFill>
                <a:latin typeface="Courier New"/>
              </a:rPr>
              <a:t>blocks/icon-list/icon-list.css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584448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Change layout, spacing, typography, or responsive behavior.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14800"/>
            <a:ext cx="108356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27024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rial"/>
              </a:rPr>
              <a:t>Shared image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42702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B1000"/>
                </a:solidFill>
                <a:latin typeface="Courier New"/>
              </a:rPr>
              <a:t>scripts/aem.js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70248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Change only when the optimization contract should change site-wide.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00600"/>
            <a:ext cx="10835640" cy="612648"/>
          </a:xfrm>
          <a:prstGeom prst="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95604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rial"/>
              </a:rPr>
              <a:t>Generated authoring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49560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B1000"/>
                </a:solidFill>
                <a:latin typeface="Courier New"/>
              </a:rPr>
              <a:t>component-*.json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956048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Arial"/>
              </a:rPr>
              <a:t>Regenerate with npm run build:json after model changes.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Recommended extension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66928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C6C6C"/>
                </a:solidFill>
                <a:latin typeface="Arial"/>
              </a:rPr>
              <a:t>Model the content → decorate the authored DOM → reuse shared utilities → style locally → regenerate JSON.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73952"/>
            <a:ext cx="11064240" cy="25400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653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C6C6C"/>
                </a:solidFill>
                <a:latin typeface="Arial"/>
              </a:rPr>
              <a:t>ADOBE  |  EDGE DELIVERY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565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C6C6C"/>
                </a:solidFill>
                <a:latin typeface="Arial"/>
              </a:rPr>
              <a:t>ICON-LIST IMPLEMENTATION  •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